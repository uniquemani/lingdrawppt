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年度营收趋势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150</c:v>
                </c:pt>
                <c:pt idx="2">
                  <c:v>190</c:v>
                </c:pt>
                <c:pt idx="3">
                  <c:v>230</c:v>
                </c:pt>
                <c:pt idx="4">
                  <c:v>280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月度活跃用户波动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活跃用户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2.5</c:v>
                </c:pt>
                <c:pt idx="2">
                  <c:v>2.9</c:v>
                </c:pt>
                <c:pt idx="3">
                  <c:v>2.7</c:v>
                </c:pt>
                <c:pt idx="4">
                  <c:v>2.4</c:v>
                </c:pt>
                <c:pt idx="5">
                  <c:v>2.8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产品评分横向对比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评分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  <c:pt idx="3">
                  <c:v>D产品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3.8</c:v>
                </c:pt>
                <c:pt idx="2">
                  <c:v>4.5</c:v>
                </c:pt>
                <c:pt idx="3">
                  <c:v>4.1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多产品多指标对比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</c:v>
                </c:pt>
                <c:pt idx="1">
                  <c:v>280</c:v>
                </c:pt>
                <c:pt idx="2">
                  <c:v>360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毛利率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</c:v>
                </c:pt>
                <c:pt idx="1">
                  <c:v>42</c:v>
                </c:pt>
                <c:pt idx="2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市场份额构成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份额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我方</c:v>
                </c:pt>
                <c:pt idx="1">
                  <c:v>竞品A</c:v>
                </c:pt>
                <c:pt idx="2">
                  <c:v>竞品B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增长率不是构成占比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同比增长率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线上</c:v>
                </c:pt>
                <c:pt idx="1">
                  <c:v>门店</c:v>
                </c:pt>
                <c:pt idx="2">
                  <c:v>代理商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噪声文本中的明确趋势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36</c:v>
                </c:pt>
                <c:pt idx="2">
                  <c:v>44</c:v>
                </c:pt>
                <c:pt idx="3">
                  <c:v>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中英混合销售漏斗对比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Lead</c:v>
                </c:pt>
                <c:pt idx="1">
                  <c:v>MQL</c:v>
                </c:pt>
                <c:pt idx="2">
                  <c:v>SQL</c:v>
                </c:pt>
                <c:pt idx="3">
                  <c:v>Closed Won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41</c:v>
                </c:pt>
                <c:pt idx="2">
                  <c:v>28</c:v>
                </c:pt>
                <c:pt idx="3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D42"/>
                </a:solidFill>
                <a:latin typeface="Microsoft YaHei"/>
              </a:rPr>
              <a:t>意图分析与数据图表构建稳定性测试集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08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B35"/>
                </a:solidFill>
                <a:latin typeface="Microsoft YaHei"/>
              </a:rPr>
              <a:t>覆盖 trend / comparison / proportion / process / hierarchy / relation / data_table，以及百分号误判、噪声数字、多指标分组、中英混合等稳定性风险。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26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891"/>
                </a:solidFill>
                <a:latin typeface="Microsoft YaHei"/>
              </a:rPr>
              <a:t>测试用例数量：12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4564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E7B"/>
                </a:solidFill>
                <a:latin typeface="Microsoft YaHei"/>
              </a:rPr>
              <a:t>每页均包含可抽取字段：topic / body / data_description / expected_intent / expected_chartType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2"/>
                </a:solidFill>
                <a:latin typeface="Microsoft YaHei"/>
              </a:rPr>
              <a:t>测试用例索引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0584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93895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标题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Expected intent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Expected chartType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年度营收趋势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trend_line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月度活跃用户波动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trend_line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产品评分横向对比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comparison_bar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多产品多指标对比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comparison_grouped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市场份额构成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proportion_pie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增长率不是构成占比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comparison_bar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客户转化流程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process_flow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组织层级结构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hierarchy_tree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预算流向关系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relation_sankey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价格矩阵需要表格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data_table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t>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噪声文本中的明确趋势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trend_line</a:t>
                      </a:r>
                    </a:p>
                  </a:txBody>
                  <a:tcPr/>
                </a:tc>
              </a:tr>
              <a:tr h="393900">
                <a:tc>
                  <a:txBody>
                    <a:bodyPr/>
                    <a:lstStyle/>
                    <a:p>
                      <a:r>
                        <a:t>T12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中英混合销售漏斗对比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comparison_bar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年度营收趋势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intent=trend | chartType=trend_line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年度营收趋势
body: 过去5年营收持续增长，2021年120万元，2022年150万元，2023年190万元，2024年230万元，2025年280万元。
data_description: 时间序列：2021,2022,2023,2024,2025；营收：120,150,190,230,280；单位：万元。
expected_intent: trend
expected_chartType: trend_line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intent=trend
- chartType=trend_line
- x/y长度一致
- yAxis.name包含万元或数值单位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0058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月度活跃用户波动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intent=trend | chartType=trend_line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月度活跃用户波动
body: 1月至6月活跃用户先升后降：1月2.1万人、2月2.5万人、3月2.9万人、4月2.7万人、5月2.4万人、6月2.8万人。
data_description: 月份：1月,2月,3月,4月,5月,6月；活跃用户：2.1,2.5,2.9,2.7,2.4,2.8；单位：万人。
expected_intent: trend
expected_chartType: trend_line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识别时间语义
- 保留小数
- 不要误判为对比柱状图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0058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产品评分横向对比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intent=comparison | chartType=comparison_bar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产品评分横向对比
body: A产品评分4.2，B产品评分3.8，C产品评分4.5，D产品评分4.1。
data_description: 产品：A产品,B产品,C产品,D产品；评分：4.2,3.8,4.5,4.1。
expected_intent: comparison
expected_chartType: comparison_bar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intent=comparison
- chartType=comparison_bar
- series[0].type=bar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0058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多产品多指标对比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intent=comparison | chartType=comparison_grouped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多产品多指标对比
body: A产品营收320万元、毛利率38%；B产品营收280万元、毛利率42%；C产品营收360万元、毛利率35%。
data_description: 多实体多指标：产品=A,B,C；营收=320,280,360万元；毛利率=38,42,35%。
expected_intent: comparison
expected_chartType: comparison_grouped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chartType=comparison_grouped
- 至少2个series
- 不应生成proportion_pie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0058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市场份额构成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intent=proportion | chartType=proportion_pie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市场份额构成
body: 市场份额：我方40%，竞品A 35%，竞品B 25%，合计100%。
data_description: 同一市场整体的构成比例：我方=40，竞品A=35，竞品B=25。
expected_intent: proportion
expected_chartType: proportion_pie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intent=proportion
- chartType=proportion_pie
- 饼图数据合计约100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0058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增长率不是构成占比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intent=comparison | chartType=comparison_bar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增长率不是构成占比
body: 三个渠道同比增长率分别为：线上18%，门店12%，代理商9%。这些数值不是同一整体的份额，不要做饼图。
data_description: 渠道：线上,门店,代理商；同比增长率：18,12,9；含百分号但不是构成比例。
expected_intent: comparison
expected_chartType: comparison_bar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intent=comparison
- chartType=comparison_bar
- 禁止误判为proportion_pie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0058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客户转化流程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intent=process | chartType=process_flow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客户转化流程
body: 流程从线索进入开始，依次经过资格评估、方案演示、合同谈判、成交、续费运营。
data_description: 步骤：线索进入 -&gt; 资格评估 -&gt; 方案演示 -&gt; 合同谈判 -&gt; 成交 -&gt; 续费运营。
expected_intent: process
expected_chartType: process_flow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intent=process
- chartType=process_flow
- series[0].type=graph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1417320" cy="502920"/>
          </a:xfrm>
          <a:prstGeom prst="roundRect">
            <a:avLst/>
          </a:prstGeom>
          <a:solidFill>
            <a:srgbClr val="008891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线索进入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18872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资格评估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18872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方案演示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42316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合同谈判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42316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成交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242316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续费运营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069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E7B"/>
                </a:solidFill>
                <a:latin typeface="Microsoft YaHei"/>
              </a:rPr>
              <a:t>箭头关系由文本字段提供，图形仅辅助人工查看。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组织层级结构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intent=hierarchy | chartType=hierarchy_tree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组织层级结构
body: 集团下设华东事业部，华东事业部下设上海团队，上海团队下设企业客户组。
data_description: 层级链：集团 &gt; 华东事业部 &gt; 上海团队 &gt; 企业客户组。
expected_intent: hierarchy
expected_chartType: hierarchy_tree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intent=hierarchy
- chartType=hierarchy_tree
- series[0].type=tree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2103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集团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920240"/>
            <a:ext cx="2103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华东事业部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2514600"/>
            <a:ext cx="2103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上海团队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108960"/>
            <a:ext cx="2103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008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2B35"/>
                </a:solidFill>
                <a:latin typeface="Microsoft YaHei"/>
              </a:rPr>
              <a:t>企业客户组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预算流向关系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intent=relation | chartType=relation_sankey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预算流向关系
body: 总部预算100万元流向研发40万元、市场35万元、销售25万元；市场再分配给品牌20万元、活动15万元。
data_description: 流向：总部-&gt;研发=40，总部-&gt;市场=35，总部-&gt;销售=25，市场-&gt;品牌=20，市场-&gt;活动=15；单位：万元。
expected_intent: relation
expected_chartType: relation_sankey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intent=relation
- chartType=relation_sankey
- links数量&gt;=5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05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D42"/>
                </a:solidFill>
                <a:latin typeface="Microsoft YaHei"/>
              </a:rPr>
              <a:t>Sankey 流向测试页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5394960" cy="18288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B35"/>
                </a:solidFill>
                <a:latin typeface="Microsoft YaHei"/>
              </a:rPr>
              <a:t>总部 -&gt; 研发: 40
总部 -&gt; 市场: 35
总部 -&gt; 销售: 25
市场 -&gt; 品牌: 20
市场 -&gt; 活动: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价格矩阵需要表格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intent=comparison | chartType=data_table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价格矩阵需要表格
body: 请用表格展示三个套餐的价格矩阵，不要转成图。基础版99元含2个席位，专业版199元含5个席位，企业版499元含20个席位。
data_description: 表格列：套餐,价格,席位数；行：基础版,99,2；专业版,199,5；企业版,499,20。
expected_intent: comparison
expected_chartType: data_table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chartType=data_table
- echartsOption.graphic存在
- 结构化表格行列完整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005840"/>
          <a:ext cx="5394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套餐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价格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席位数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基础版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专业版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企业版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5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噪声文本中的明确趋势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intent=trend | chartType=trend_line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噪声文本中的明确趋势
body: 本页还提到预算、团队、客户案例等背景信息，但核心图表只看净推荐值NPS：2022年31，2023年36，2024年44，2025年47。
data_description: 忽略无关数字：预算500万、团队12人；NPS时间序列：2022=31,2023=36,2024=44,2025=47。
expected_intent: trend
expected_chartType: trend_line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优先使用明确数据描述
- 不要把预算500万或团队12人混入y值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0058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891"/>
                </a:solidFill>
                <a:latin typeface="Microsoft YaHei"/>
              </a:rPr>
              <a:t>T12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2D42"/>
                </a:solidFill>
                <a:latin typeface="Microsoft YaHei"/>
              </a:rPr>
              <a:t>中英混合销售漏斗对比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19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F4D37"/>
                </a:solidFill>
                <a:latin typeface="Microsoft YaHei"/>
              </a:rPr>
              <a:t>EXPECTED: intent=comparison | chartType=comparison_bar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13232"/>
            <a:ext cx="11338560" cy="18288"/>
          </a:xfrm>
          <a:prstGeom prst="rect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5780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70" b="0">
                <a:solidFill>
                  <a:srgbClr val="222B35"/>
                </a:solidFill>
                <a:latin typeface="Microsoft YaHei"/>
              </a:rPr>
              <a:t>topic: 中英混合销售漏斗对比
body: Pipeline stages conversion rate: Lead 62%, MQL 41%, SQL 28%, Closed Won 12%。这里比较各阶段转化率，不是份额。
data_description: 阶段：Lead,MQL,SQL,Closed Won；conversion rate：62,41,28,12；percent metric, not composition share。
expected_intent: comparison
expected_chartType: comparison_bar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B"/>
                </a:solidFill>
                <a:latin typeface="Microsoft YaHei"/>
              </a:rPr>
              <a:t>校验点：
- 中英混合字段可解析
- chartType=comparison_bar
- 不要因百分号生成饼图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00584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6E7B"/>
                </a:solidFill>
                <a:latin typeface="Microsoft YaHei"/>
              </a:rPr>
              <a:t>LingDraw PPT intent/chart stability fixture | 用于自动化和人工回归测试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